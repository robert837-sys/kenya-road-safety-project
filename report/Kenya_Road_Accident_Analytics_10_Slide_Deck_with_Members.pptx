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47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C6E42"/>
          </a:solidFill>
          <a:ln w="12700">
            <a:solidFill>
              <a:srgbClr val="1C6E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End-Year Project Presentation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Computer Science Department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942110"/>
            <a:ext cx="10698480" cy="4480560"/>
          </a:xfrm>
          <a:prstGeom prst="roundRect">
            <a:avLst>
              <a:gd name="adj" fmla="val 1633"/>
            </a:avLst>
          </a:prstGeom>
          <a:solidFill>
            <a:srgbClr val="F8FBF7"/>
          </a:solidFill>
          <a:ln w="12700">
            <a:solidFill>
              <a:srgbClr val="1C6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25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3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Kenya Road Accident Analytics &amp; Risk Prediction System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03120" y="2240280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C6E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Kevin Otieno - COM/044/21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C6E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 Owuor - COM/025/22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C6E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Suleiman Owiyo - COM/070/22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C6E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Kipchumba Bethuel - COM/008/22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14A4A"/>
          </a:solidFill>
          <a:ln w="12700">
            <a:solidFill>
              <a:srgbClr val="B14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Why the project matters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55680" cy="5440680"/>
          </a:xfrm>
          <a:prstGeom prst="roundRect">
            <a:avLst>
              <a:gd name="adj" fmla="val 1345"/>
            </a:avLst>
          </a:prstGeom>
          <a:solidFill>
            <a:srgbClr val="F8FBF7"/>
          </a:solidFill>
          <a:ln w="12700">
            <a:solidFill>
              <a:srgbClr val="B1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34440"/>
            <a:ext cx="987552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 err="1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Kenyas</a:t>
            </a:r>
            <a:r>
              <a:rPr lang="en-US" sz="19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road safety management remains largely reactive instead of predictive and evidence-driven.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NTSA collects rich accident data, but there is no integrated analytics and prediction system that turns records into actionable intelligence.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raw dataset has quality issues such as county name variants, ambiguous victim labels, mixed formats, and unknown cause codes.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addresses the gap by combining database storage, data cleaning, machine learning, and dashboard reporting.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F6FC4"/>
          </a:solidFill>
          <a:ln w="12700">
            <a:solidFill>
              <a:srgbClr val="2F6FC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Aim, Objectives and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Project direction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1155680" cy="5440680"/>
          </a:xfrm>
          <a:prstGeom prst="roundRect">
            <a:avLst>
              <a:gd name="adj" fmla="val 1345"/>
            </a:avLst>
          </a:prstGeom>
          <a:solidFill>
            <a:srgbClr val="F8FBF7"/>
          </a:solidFill>
          <a:ln w="12700">
            <a:solidFill>
              <a:srgbClr val="2F6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430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Aim: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1430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implement a road accident analytics and risk prediction system for Kenya.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98755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To collect, clean, and store NTSA road accident records in a structured relational database using PostgreSQL and Python.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To analyze the accident data and identify patterns by county, road, time of day, cause, victim type, gender, and age group.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To build machine learning models that predict accident fatality and victim count using Scikit-learn.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To classify Kenyan counties into meaningful road risk tiers using unsupervised learning through K-Means clustering.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To develop an interactive Power BI dashboard that presents key road safety insights using charts, KPIs, maps, and filters.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To generate evidence-based recommendations for NTSA and county governments based on the findings from the data analysis and predictive models.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9834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4965192"/>
            <a:ext cx="92354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covered 1,119 NTSA June 2016 records across 42 counties, structured in PostgreSQL and analysed in Python. Outputs included ten EDA charts, five machine learning models, county risk clustering, and a five-page Power BI dashboard.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E9B92"/>
          </a:solidFill>
          <a:ln w="12700">
            <a:solidFill>
              <a:srgbClr val="2E9B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and 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Dataset and database foundation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4572000" cy="5486400"/>
          </a:xfrm>
          <a:prstGeom prst="roundRect">
            <a:avLst>
              <a:gd name="adj" fmla="val 1600"/>
            </a:avLst>
          </a:prstGeom>
          <a:solidFill>
            <a:srgbClr val="F8FBF7"/>
          </a:solidFill>
          <a:ln w="12700">
            <a:solidFill>
              <a:srgbClr val="2E9B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43000"/>
            <a:ext cx="3840480" cy="4892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data: 1,119 accident records from NTSA/Kenya Open Data covering June 2016.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Two-table PostgreSQL design was used: accidents_raw preserved the source while accidents_clean stored engineered fields.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features include county, road, cause code, victim type, age, gender, time, time of day, fatality status, and victim count.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supports traceability, reproducibility, and future extension to multi-year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57800" y="868680"/>
            <a:ext cx="6492240" cy="5486400"/>
          </a:xfrm>
          <a:prstGeom prst="roundRect">
            <a:avLst>
              <a:gd name="adj" fmla="val 1333"/>
            </a:avLst>
          </a:prstGeom>
          <a:solidFill>
            <a:srgbClr val="F8FBF7"/>
          </a:solidFill>
          <a:ln w="12700">
            <a:solidFill>
              <a:srgbClr val="2E9B92"/>
            </a:solidFill>
            <a:prstDash val="solid"/>
          </a:ln>
        </p:spPr>
      </p:sp>
      <p:pic>
        <p:nvPicPr>
          <p:cNvPr id="8" name="Image 0" descr="C:\Users\Administrator\Desktop\kenya_road_safety_project\report\extracted_doc_images\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70432"/>
            <a:ext cx="5989320" cy="4846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77840" y="589788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 from the project documentation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E9B92"/>
          </a:solidFill>
          <a:ln w="12700">
            <a:solidFill>
              <a:srgbClr val="2E9B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System Design Diagrams 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Architecture and data 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F8FBF7"/>
          </a:solidFill>
          <a:ln w="12700">
            <a:solidFill>
              <a:srgbClr val="2E9B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051560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F8FBF7"/>
          </a:solidFill>
          <a:ln w="12700">
            <a:solidFill>
              <a:srgbClr val="2E9B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704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9B9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Diagram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1704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9B9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Flow Diagram - Level 0</a:t>
            </a:r>
            <a:endParaRPr lang="en-US" sz="1600" dirty="0"/>
          </a:p>
        </p:txBody>
      </p:sp>
      <p:pic>
        <p:nvPicPr>
          <p:cNvPr id="9" name="Image 0" descr="C:\Users\Administrator\Desktop\kenya_road_safety_project\report\extracted_doc_images\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63040"/>
            <a:ext cx="4983480" cy="4663440"/>
          </a:xfrm>
          <a:prstGeom prst="rect">
            <a:avLst/>
          </a:prstGeom>
        </p:spPr>
      </p:pic>
      <p:pic>
        <p:nvPicPr>
          <p:cNvPr id="10" name="Image 1" descr="C:\Users\Administrator\Desktop\kenya_road_safety_project\report\extracted_doc_images\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63040"/>
            <a:ext cx="4983480" cy="4663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8F68BF"/>
          </a:solidFill>
          <a:ln w="12700">
            <a:solidFill>
              <a:srgbClr val="8F68B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System Design Diagrams II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Detailed process and data model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F8FBF7"/>
          </a:solidFill>
          <a:ln w="12700">
            <a:solidFill>
              <a:srgbClr val="8F68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051560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F8FBF7"/>
          </a:solidFill>
          <a:ln w="12700">
            <a:solidFill>
              <a:srgbClr val="8F6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704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68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Flow Diagram - Level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1704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68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/ ERD Diagram</a:t>
            </a:r>
            <a:endParaRPr lang="en-US" sz="1600" dirty="0"/>
          </a:p>
        </p:txBody>
      </p:sp>
      <p:pic>
        <p:nvPicPr>
          <p:cNvPr id="9" name="Image 0" descr="C:\Users\Administrator\Desktop\kenya_road_safety_project\report\extracted_doc_images\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63040"/>
            <a:ext cx="4983480" cy="4663440"/>
          </a:xfrm>
          <a:prstGeom prst="rect">
            <a:avLst/>
          </a:prstGeom>
        </p:spPr>
      </p:pic>
      <p:pic>
        <p:nvPicPr>
          <p:cNvPr id="10" name="Image 1" descr="C:\Users\Administrator\Desktop\kenya_road_safety_project\report\extracted_doc_images\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63040"/>
            <a:ext cx="4983480" cy="4663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8F68BF"/>
          </a:solidFill>
          <a:ln w="12700">
            <a:solidFill>
              <a:srgbClr val="8F68B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Seven-phase pipeline from the report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1508760" cy="822960"/>
          </a:xfrm>
          <a:prstGeom prst="roundRect">
            <a:avLst>
              <a:gd name="adj" fmla="val 6667"/>
            </a:avLst>
          </a:prstGeom>
          <a:solidFill>
            <a:srgbClr val="F8FBF7"/>
          </a:solidFill>
          <a:ln w="12700">
            <a:solidFill>
              <a:srgbClr val="2F6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801368"/>
            <a:ext cx="1289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6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075688"/>
            <a:ext cx="136245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&amp; Planning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1947672"/>
            <a:ext cx="164592" cy="256032"/>
          </a:xfrm>
          <a:prstGeom prst="chevron">
            <a:avLst/>
          </a:prstGeom>
          <a:solidFill>
            <a:srgbClr val="566B5B"/>
          </a:solidFill>
          <a:ln w="12700">
            <a:solidFill>
              <a:srgbClr val="566B5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9152" y="1691640"/>
            <a:ext cx="1508760" cy="822960"/>
          </a:xfrm>
          <a:prstGeom prst="roundRect">
            <a:avLst>
              <a:gd name="adj" fmla="val 6667"/>
            </a:avLst>
          </a:prstGeom>
          <a:solidFill>
            <a:srgbClr val="F8FBF7"/>
          </a:solidFill>
          <a:ln w="12700">
            <a:solidFill>
              <a:srgbClr val="2E9B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801368"/>
            <a:ext cx="1289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B9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32304" y="2075688"/>
            <a:ext cx="136245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67912" y="1947672"/>
            <a:ext cx="164592" cy="256032"/>
          </a:xfrm>
          <a:prstGeom prst="chevron">
            <a:avLst/>
          </a:prstGeom>
          <a:solidFill>
            <a:srgbClr val="566B5B"/>
          </a:solidFill>
          <a:ln w="12700">
            <a:solidFill>
              <a:srgbClr val="566B5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32504" y="1691640"/>
            <a:ext cx="1508760" cy="822960"/>
          </a:xfrm>
          <a:prstGeom prst="roundRect">
            <a:avLst>
              <a:gd name="adj" fmla="val 6667"/>
            </a:avLst>
          </a:prstGeom>
          <a:solidFill>
            <a:srgbClr val="F8FBF7"/>
          </a:solidFill>
          <a:ln w="12700">
            <a:solidFill>
              <a:srgbClr val="1C6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1801368"/>
            <a:ext cx="1289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6E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05656" y="2075688"/>
            <a:ext cx="136245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41264" y="1947672"/>
            <a:ext cx="164592" cy="256032"/>
          </a:xfrm>
          <a:prstGeom prst="chevron">
            <a:avLst/>
          </a:prstGeom>
          <a:solidFill>
            <a:srgbClr val="566B5B"/>
          </a:solidFill>
          <a:ln w="12700">
            <a:solidFill>
              <a:srgbClr val="566B5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05856" y="1691640"/>
            <a:ext cx="1508760" cy="822960"/>
          </a:xfrm>
          <a:prstGeom prst="roundRect">
            <a:avLst>
              <a:gd name="adj" fmla="val 6667"/>
            </a:avLst>
          </a:prstGeom>
          <a:solidFill>
            <a:srgbClr val="F8FBF7"/>
          </a:solidFill>
          <a:ln w="12700">
            <a:solidFill>
              <a:srgbClr val="B87F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15584" y="1801368"/>
            <a:ext cx="1289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7F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79008" y="2075688"/>
            <a:ext cx="136245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14616" y="1947672"/>
            <a:ext cx="164592" cy="256032"/>
          </a:xfrm>
          <a:prstGeom prst="chevron">
            <a:avLst/>
          </a:prstGeom>
          <a:solidFill>
            <a:srgbClr val="566B5B"/>
          </a:solidFill>
          <a:ln w="12700">
            <a:solidFill>
              <a:srgbClr val="566B5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79208" y="1691640"/>
            <a:ext cx="1508760" cy="822960"/>
          </a:xfrm>
          <a:prstGeom prst="roundRect">
            <a:avLst>
              <a:gd name="adj" fmla="val 6667"/>
            </a:avLst>
          </a:prstGeom>
          <a:solidFill>
            <a:srgbClr val="F8FBF7"/>
          </a:solidFill>
          <a:ln w="12700">
            <a:solidFill>
              <a:srgbClr val="B14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88936" y="1801368"/>
            <a:ext cx="1289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14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2360" y="2075688"/>
            <a:ext cx="136245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87968" y="1947672"/>
            <a:ext cx="164592" cy="256032"/>
          </a:xfrm>
          <a:prstGeom prst="chevron">
            <a:avLst/>
          </a:prstGeom>
          <a:solidFill>
            <a:srgbClr val="566B5B"/>
          </a:solidFill>
          <a:ln w="12700">
            <a:solidFill>
              <a:srgbClr val="566B5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1691640"/>
            <a:ext cx="1508760" cy="822960"/>
          </a:xfrm>
          <a:prstGeom prst="roundRect">
            <a:avLst>
              <a:gd name="adj" fmla="val 6667"/>
            </a:avLst>
          </a:prstGeom>
          <a:solidFill>
            <a:srgbClr val="F8FBF7"/>
          </a:solidFill>
          <a:ln w="12700">
            <a:solidFill>
              <a:srgbClr val="8F68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62288" y="1801368"/>
            <a:ext cx="1289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68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25712" y="2075688"/>
            <a:ext cx="136245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561320" y="1947672"/>
            <a:ext cx="164592" cy="256032"/>
          </a:xfrm>
          <a:prstGeom prst="chevron">
            <a:avLst/>
          </a:prstGeom>
          <a:solidFill>
            <a:srgbClr val="566B5B"/>
          </a:solidFill>
          <a:ln w="12700">
            <a:solidFill>
              <a:srgbClr val="566B5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25912" y="1691640"/>
            <a:ext cx="1435608" cy="822960"/>
          </a:xfrm>
          <a:prstGeom prst="roundRect">
            <a:avLst>
              <a:gd name="adj" fmla="val 6667"/>
            </a:avLst>
          </a:prstGeom>
          <a:solidFill>
            <a:srgbClr val="F8FBF7"/>
          </a:solidFill>
          <a:ln w="12700">
            <a:solidFill>
              <a:srgbClr val="7F5A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35640" y="1801368"/>
            <a:ext cx="1289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F5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799064" y="2075688"/>
            <a:ext cx="136245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3017520"/>
            <a:ext cx="10972800" cy="2697480"/>
          </a:xfrm>
          <a:prstGeom prst="roundRect">
            <a:avLst>
              <a:gd name="adj" fmla="val 2712"/>
            </a:avLst>
          </a:prstGeom>
          <a:solidFill>
            <a:srgbClr val="F8FBF7"/>
          </a:solidFill>
          <a:ln w="12700">
            <a:solidFill>
              <a:srgbClr val="8F68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337560"/>
            <a:ext cx="1033272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 describes a seven-phase pipeline methodology mapped to dedicated notebooks and validated deliverables.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iterative and data-centric: EDA findings feed back into cleaning and modelling choices are based on empirical validation.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recreated methodology diagram is based directly on the documented process in the report.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F6FC4"/>
          </a:solidFill>
          <a:ln w="12700">
            <a:solidFill>
              <a:srgbClr val="2F6FC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Key EDA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Where, when, causes, and victims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3840480" cy="5486400"/>
          </a:xfrm>
          <a:prstGeom prst="roundRect">
            <a:avLst>
              <a:gd name="adj" fmla="val 1905"/>
            </a:avLst>
          </a:prstGeom>
          <a:solidFill>
            <a:srgbClr val="F8FBF7"/>
          </a:solidFill>
          <a:ln w="12700">
            <a:solidFill>
              <a:srgbClr val="2F6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43000"/>
            <a:ext cx="3291840" cy="4892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Nairobi had the most accidents: 183 records (16.4% of all accidents).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 5 counties contributed 41.8% of all accidents.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Evening hours were the most dangerous period.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Careless driving and speeding were the leading identifiable causes, while pedestrians were the largest victim group.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26280" y="868680"/>
            <a:ext cx="3383280" cy="5486400"/>
          </a:xfrm>
          <a:prstGeom prst="roundRect">
            <a:avLst>
              <a:gd name="adj" fmla="val 2162"/>
            </a:avLst>
          </a:prstGeom>
          <a:solidFill>
            <a:srgbClr val="F8FBF7"/>
          </a:solidFill>
          <a:ln w="12700">
            <a:solidFill>
              <a:srgbClr val="2F6FC4"/>
            </a:solidFill>
            <a:prstDash val="solid"/>
          </a:ln>
        </p:spPr>
      </p:sp>
      <p:pic>
        <p:nvPicPr>
          <p:cNvPr id="9" name="Image 0" descr="C:\Users\Administrator\Desktop\kenya_road_safety_project\visuals\chart1_accidents_by_coun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3108960" cy="4983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">
            <a:extLst>
              <a:ext uri="{FF2B5EF4-FFF2-40B4-BE49-F238E27FC236}">
                <a16:creationId xmlns:a16="http://schemas.microsoft.com/office/drawing/2014/main" id="{7BDCA111-5553-CDAE-F12C-A02E305E7667}"/>
              </a:ext>
            </a:extLst>
          </p:cNvPr>
          <p:cNvSpPr/>
          <p:nvPr/>
        </p:nvSpPr>
        <p:spPr>
          <a:xfrm>
            <a:off x="3255819" y="207818"/>
            <a:ext cx="6664036" cy="6303817"/>
          </a:xfrm>
          <a:prstGeom prst="roundRect">
            <a:avLst>
              <a:gd name="adj" fmla="val 2162"/>
            </a:avLst>
          </a:prstGeom>
          <a:solidFill>
            <a:srgbClr val="F8FBF7"/>
          </a:solidFill>
          <a:ln w="12700">
            <a:solidFill>
              <a:srgbClr val="2F6FC4"/>
            </a:solidFill>
            <a:prstDash val="solid"/>
          </a:ln>
        </p:spPr>
      </p:sp>
      <p:pic>
        <p:nvPicPr>
          <p:cNvPr id="10" name="Image 1" descr="C:\Users\Administrator\Desktop\kenya_road_safety_project\visuals\chart3_victim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345" y="346365"/>
            <a:ext cx="6262255" cy="561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52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C6E42"/>
          </a:solidFill>
          <a:ln w="12700">
            <a:solidFill>
              <a:srgbClr val="1C6E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Machine Learning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Predictive modelling performance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4572000" cy="5486400"/>
          </a:xfrm>
          <a:prstGeom prst="roundRect">
            <a:avLst>
              <a:gd name="adj" fmla="val 1600"/>
            </a:avLst>
          </a:prstGeom>
          <a:solidFill>
            <a:srgbClr val="F8FBF7"/>
          </a:solidFill>
          <a:ln w="12700">
            <a:solidFill>
              <a:srgbClr val="1C6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3840480" cy="4892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models were developed: Linear Regression, Logistic Regression, Decision Tree, Random Forest, and K-Means Clustering.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achieved the best AUC-ROC score: 0.749.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achieved the highest recall: 0.719 for early warning use.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grouped counties into risk tiers for targeted interventions.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57800" y="868680"/>
            <a:ext cx="6492240" cy="5486400"/>
          </a:xfrm>
          <a:prstGeom prst="roundRect">
            <a:avLst>
              <a:gd name="adj" fmla="val 1333"/>
            </a:avLst>
          </a:prstGeom>
          <a:solidFill>
            <a:srgbClr val="F8FBF7"/>
          </a:solidFill>
          <a:ln w="12700">
            <a:solidFill>
              <a:srgbClr val="1C6E42"/>
            </a:solidFill>
            <a:prstDash val="solid"/>
          </a:ln>
        </p:spPr>
      </p:sp>
      <p:pic>
        <p:nvPicPr>
          <p:cNvPr id="8" name="Image 0" descr="C:\Users\Administrator\Desktop\kenya_road_safety_project\visuals\comparison_metric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5989320" cy="4892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C6E42"/>
          </a:solidFill>
          <a:ln w="12700">
            <a:solidFill>
              <a:srgbClr val="1C6E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How the Models Were Used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Simple explanation for presentation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8FBF7"/>
          </a:solidFill>
          <a:ln w="12700">
            <a:solidFill>
              <a:srgbClr val="1C6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6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to predict the number of victims in an accident as a regression task.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Finding: it performed poorly because most accidents had only one victim, so there was very little variation to learn.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69080" y="100584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8FBF7"/>
          </a:solidFill>
          <a:ln w="12700">
            <a:solidFill>
              <a:srgbClr val="1C6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1430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87F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06240" y="15087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as a baseline classification model to predict whether an accident would be fatal or non-fatal.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14884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Finding: it produced the highest recall (0.719), meaning it identified the largest share of fatal accidents.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100584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8FBF7"/>
          </a:solidFill>
          <a:ln w="12700">
            <a:solidFill>
              <a:srgbClr val="1C6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1430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14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0" y="15087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to classify fatality outcomes with a model that is easy to interpret and visualize.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214884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Finding: it captured useful rules from the data, but it was less stable and less accurate than the stronger ensemble model.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365760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8FBF7"/>
          </a:solidFill>
          <a:ln w="12700">
            <a:solidFill>
              <a:srgbClr val="1C6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37947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8F68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these 3 matter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23160" y="416052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provided baseline regression, baseline classification, and interpretable rule-based classification.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480060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 they helped compare simple models before moving to the best-performing advanced models.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E9B92"/>
          </a:solidFill>
          <a:ln w="12700">
            <a:solidFill>
              <a:srgbClr val="2E9B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Advanced Models and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Best model and clustering insight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8FBF7"/>
          </a:solidFill>
          <a:ln w="12700">
            <a:solidFill>
              <a:srgbClr val="2E9B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C6E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as the main ensemble classifier for predicting accident fatality from multiple features.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Finding: it achieved the best AUC-ROC score of 0.749, making it the strongest overall model in the project.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69080" y="100584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8FBF7"/>
          </a:solidFill>
          <a:ln w="12700">
            <a:solidFill>
              <a:srgbClr val="2E9B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1430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E9B9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 Clustering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06240" y="15087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as an unsupervised model to group counties into similar risk levels based on accident patterns.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14884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Finding: it classified 42 counties into 3 tiers and identified 7 counties as High Risk.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100584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8FBF7"/>
          </a:solidFill>
          <a:ln w="12700">
            <a:solidFill>
              <a:srgbClr val="2E9B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1430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7F5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insight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0" y="15087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also helped show which variables contributed most to fatality prediction.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214884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Finding: cause code and hour of day were among the most predictive features, showing that why and when an accident happens matters a lot.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365760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8FBF7"/>
          </a:solidFill>
          <a:ln w="12700">
            <a:solidFill>
              <a:srgbClr val="2E9B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37947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8F68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takeaway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23160" y="416052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Logistic Regression when recall is the priority, and Random Forest when overall classification strength is the priority.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480060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is useful for planning because it helps authorities know where to focus limited resources.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87F19"/>
          </a:solidFill>
          <a:ln w="12700">
            <a:solidFill>
              <a:srgbClr val="B87F1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Dashboard and Deployment Outputs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Screens from the documented deliverables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F8FBF7"/>
          </a:solidFill>
          <a:ln w="12700">
            <a:solidFill>
              <a:srgbClr val="B87F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051560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F8FBF7"/>
          </a:solidFill>
          <a:ln w="12700">
            <a:solidFill>
              <a:srgbClr val="B87F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704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7F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Page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1704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7F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Insights Page</a:t>
            </a:r>
            <a:endParaRPr lang="en-US" sz="1600" dirty="0"/>
          </a:p>
        </p:txBody>
      </p:sp>
      <p:pic>
        <p:nvPicPr>
          <p:cNvPr id="9" name="Image 0" descr="C:\Users\Administrator\Desktop\kenya_road_safety_project\report\extracted_doc_images\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63040"/>
            <a:ext cx="4983480" cy="4663440"/>
          </a:xfrm>
          <a:prstGeom prst="rect">
            <a:avLst/>
          </a:prstGeom>
        </p:spPr>
      </p:pic>
      <p:pic>
        <p:nvPicPr>
          <p:cNvPr id="10" name="Image 1" descr="C:\Users\Administrator\Desktop\kenya_road_safety_project\report\extracted_doc_images\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63040"/>
            <a:ext cx="4983480" cy="4663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E9B92"/>
          </a:solidFill>
          <a:ln w="12700">
            <a:solidFill>
              <a:srgbClr val="2E9B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High Risk Analysis and County 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Operational decision-support views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F8FBF7"/>
          </a:solidFill>
          <a:ln w="12700">
            <a:solidFill>
              <a:srgbClr val="2E9B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051560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F8FBF7"/>
          </a:solidFill>
          <a:ln w="12700">
            <a:solidFill>
              <a:srgbClr val="2E9B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704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9B9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Risk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1704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9B9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County Risk Map</a:t>
            </a:r>
            <a:endParaRPr lang="en-US" sz="1600" dirty="0"/>
          </a:p>
        </p:txBody>
      </p:sp>
      <p:pic>
        <p:nvPicPr>
          <p:cNvPr id="9" name="Image 0" descr="C:\Users\Administrator\Desktop\kenya_road_safety_project\report\extracted_doc_images\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63040"/>
            <a:ext cx="4983480" cy="4663440"/>
          </a:xfrm>
          <a:prstGeom prst="rect">
            <a:avLst/>
          </a:prstGeom>
        </p:spPr>
      </p:pic>
      <p:pic>
        <p:nvPicPr>
          <p:cNvPr id="10" name="Image 1" descr="C:\Users\Administrator\Desktop\kenya_road_safety_project\report\extracted_doc_images\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63040"/>
            <a:ext cx="4983480" cy="4663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A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7F5A32"/>
          </a:solidFill>
          <a:ln w="12700">
            <a:solidFill>
              <a:srgbClr val="7F5A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Recommendations and 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2EA"/>
                </a:solidFill>
              </a:rPr>
              <a:t>Evidence-based actions and final message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914400"/>
            <a:ext cx="10972800" cy="5440680"/>
          </a:xfrm>
          <a:prstGeom prst="roundRect">
            <a:avLst>
              <a:gd name="adj" fmla="val 1345"/>
            </a:avLst>
          </a:prstGeom>
          <a:solidFill>
            <a:srgbClr val="F8FBF7"/>
          </a:solidFill>
          <a:ln w="12700">
            <a:solidFill>
              <a:srgbClr val="7F5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5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4937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targeted traffic enforcement on major corridors during evening and night hours.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careless driving and speeding enforcement because they are the largest actionable cause categories.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pedestrian safety infrastructure on dangerous urban roads through crossings, walkways, and footbridges.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models and dashboard to guide county-level resource allocation, especially in the seven High Risk counties.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1170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6E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09360" y="150876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transformed raw NTSA records into a complete analytics, prediction, and visualization system.
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delivered a cleaned database, EDA outputs, five ML models, county risk clustering, and a Power BI dashboard.
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13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larger multi-year data and richer features such as weather, speed, and GPS, the system can become even more powerful for national deployment.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06640" y="5440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6E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and Discussion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1210</Words>
  <Application>Microsoft Office PowerPoint</Application>
  <PresentationFormat>Widescreen</PresentationFormat>
  <Paragraphs>148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Kenya Road Accident Analytics &amp; Risk Prediction System</dc:title>
  <dc:subject>Kenya Road Accident Analytics &amp; Risk Prediction System</dc:subject>
  <dc:creator>OpenAI Codex</dc:creator>
  <cp:lastModifiedBy>Agie Junior</cp:lastModifiedBy>
  <cp:revision>5</cp:revision>
  <dcterms:created xsi:type="dcterms:W3CDTF">2026-04-28T11:20:40Z</dcterms:created>
  <dcterms:modified xsi:type="dcterms:W3CDTF">2026-04-28T11:33:53Z</dcterms:modified>
</cp:coreProperties>
</file>