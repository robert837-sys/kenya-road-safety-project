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0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9" d="100"/>
          <a:sy n="69" d="100"/>
        </p:scale>
        <p:origin x="756" y="6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354761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AE8D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C6E42"/>
          </a:solidFill>
          <a:ln w="12700">
            <a:solidFill>
              <a:srgbClr val="1C6E42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09728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End-Year Project Presentation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229600" y="146304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EAF2EA"/>
                </a:solidFill>
              </a:rPr>
              <a:t>Computer Science Department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31520" y="942110"/>
            <a:ext cx="10698480" cy="4480560"/>
          </a:xfrm>
          <a:prstGeom prst="roundRect">
            <a:avLst>
              <a:gd name="adj" fmla="val 1633"/>
            </a:avLst>
          </a:prstGeom>
          <a:solidFill>
            <a:srgbClr val="F8FBF7"/>
          </a:solidFill>
          <a:ln w="12700">
            <a:solidFill>
              <a:srgbClr val="1C6E4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3258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213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Kenya Road Accident Analytics &amp; Risk Prediction System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2103120" y="2240280"/>
            <a:ext cx="795528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700" dirty="0">
                <a:solidFill>
                  <a:srgbClr val="1C6E4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Kevin Otieno - COM/044/21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dirty="0">
                <a:solidFill>
                  <a:srgbClr val="1C6E4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 Owuor - COM/025/22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dirty="0">
                <a:solidFill>
                  <a:srgbClr val="1C6E4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Suleiman Owiyo - COM/070/22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dirty="0">
                <a:solidFill>
                  <a:srgbClr val="1C6E4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Kipchumba Bethuel - COM/008/22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384280" y="6400800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66B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FF5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B14A4A"/>
          </a:solidFill>
          <a:ln w="12700">
            <a:solidFill>
              <a:srgbClr val="B14A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11480" y="109728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Problem Statement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229600" y="146304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EAF2EA"/>
                </a:solidFill>
              </a:rPr>
              <a:t>Why the project matters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914400"/>
            <a:ext cx="11155680" cy="5440680"/>
          </a:xfrm>
          <a:prstGeom prst="roundRect">
            <a:avLst>
              <a:gd name="adj" fmla="val 1345"/>
            </a:avLst>
          </a:prstGeom>
          <a:solidFill>
            <a:srgbClr val="F8FBF7"/>
          </a:solidFill>
          <a:ln w="12700">
            <a:solidFill>
              <a:srgbClr val="B14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234440"/>
            <a:ext cx="9875520" cy="4663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900" dirty="0" err="1">
                <a:solidFill>
                  <a:srgbClr val="213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Kenyas</a:t>
            </a:r>
            <a:r>
              <a:rPr lang="en-US" sz="1900" dirty="0">
                <a:solidFill>
                  <a:srgbClr val="213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road safety management remains largely reactive instead of predictive and evidence-driven.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213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NTSA collects rich accident data, but there is no integrated analytics and prediction system that turns records into actionable intelligence.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213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raw dataset has quality issues such as county name variants, ambiguous victim labels, mixed formats, and unknown cause codes.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213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project addresses the gap by combining database storage, data cleaning, machine learning, and dashboard reporting.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1384280" y="6400800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66B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FF5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2F6FC4"/>
          </a:solidFill>
          <a:ln w="12700">
            <a:solidFill>
              <a:srgbClr val="2F6FC4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09728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Aim, Objectives and Scope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229600" y="146304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EAF2EA"/>
                </a:solidFill>
              </a:rPr>
              <a:t>Project direction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914400"/>
            <a:ext cx="11155680" cy="5440680"/>
          </a:xfrm>
          <a:prstGeom prst="roundRect">
            <a:avLst>
              <a:gd name="adj" fmla="val 1345"/>
            </a:avLst>
          </a:prstGeom>
          <a:solidFill>
            <a:srgbClr val="F8FBF7"/>
          </a:solidFill>
          <a:ln w="12700">
            <a:solidFill>
              <a:srgbClr val="2F6F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143000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F6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Aim: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45920" y="114300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13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design and implement a road accident analytics and risk prediction system for Kenya.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68680" y="1572768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F6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0120" y="1874520"/>
            <a:ext cx="9875520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213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To collect, clean, and store NTSA road accident records in a structured relational database using PostgreSQL and Python.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213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To analyze the accident data and identify patterns by county, road, time of day, cause, victim type, gender, and age group.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213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To build machine learning models that predict accident fatality and victim count using Scikit-learn.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213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To classify Kenyan counties into meaningful road risk tiers using unsupervised learning through K-Means clustering.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213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 To develop an interactive Power BI dashboard that presents key road safety insights using charts, KPIs, maps, and filters.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213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6. To generate evidence-based recommendations for NTSA and county governments based on the findings from the data analysis and predictive models.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68680" y="498348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F6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Scope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645920" y="4965192"/>
            <a:ext cx="92354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213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covered 1,119 NTSA June 2016 records across 42 counties, structured in PostgreSQL and analysed in Python. Outputs included ten EDA charts, five machine learning models, county risk clustering, and a five-page Power BI dashboard.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384280" y="6400800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66B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FF5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2E9B92"/>
          </a:solidFill>
          <a:ln w="12700">
            <a:solidFill>
              <a:srgbClr val="2E9B92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09728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Data and System Architecture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229600" y="146304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EAF2EA"/>
                </a:solidFill>
              </a:rPr>
              <a:t>Dataset and database foundation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11480" y="868680"/>
            <a:ext cx="4572000" cy="5486400"/>
          </a:xfrm>
          <a:prstGeom prst="roundRect">
            <a:avLst>
              <a:gd name="adj" fmla="val 1600"/>
            </a:avLst>
          </a:prstGeom>
          <a:solidFill>
            <a:srgbClr val="F8FBF7"/>
          </a:solidFill>
          <a:ln w="12700">
            <a:solidFill>
              <a:srgbClr val="2E9B9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143000"/>
            <a:ext cx="3840480" cy="4892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13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data: 1,119 accident records from NTSA/Kenya Open Data covering June 2016.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13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Two-table PostgreSQL design was used: accidents_raw preserved the source while accidents_clean stored engineered fields.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13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features include county, road, cause code, victim type, age, gender, time, time of day, fatality status, and victim count.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13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architecture supports traceability, reproducibility, and future extension to multi-year data.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1384280" y="6400800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66B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FF5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2E9B92"/>
          </a:solidFill>
          <a:ln w="12700">
            <a:solidFill>
              <a:srgbClr val="2E9B92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09728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 System Design Diagrams I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229600" y="146304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EAF2EA"/>
                </a:solidFill>
              </a:rPr>
              <a:t>Architecture and data flow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743200" y="976745"/>
            <a:ext cx="5486400" cy="5394960"/>
          </a:xfrm>
          <a:prstGeom prst="roundRect">
            <a:avLst>
              <a:gd name="adj" fmla="val 1356"/>
            </a:avLst>
          </a:prstGeom>
          <a:solidFill>
            <a:srgbClr val="F8FBF7"/>
          </a:solidFill>
          <a:ln w="12700">
            <a:solidFill>
              <a:srgbClr val="2E9B9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23360" y="1069848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9B9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 Flow Diagram - Level 0</a:t>
            </a:r>
            <a:endParaRPr lang="en-US" sz="1600" dirty="0"/>
          </a:p>
        </p:txBody>
      </p:sp>
      <p:pic>
        <p:nvPicPr>
          <p:cNvPr id="10" name="Image 1" descr="C:\Users\Administrator\Desktop\kenya_road_safety_project\report\extracted_doc_images\imag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1463040"/>
            <a:ext cx="4983480" cy="46634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384280" y="6400800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66B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FF5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8F68BF"/>
          </a:solidFill>
          <a:ln w="12700">
            <a:solidFill>
              <a:srgbClr val="8F68B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09728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 System Design Diagrams II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229600" y="146304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EAF2EA"/>
                </a:solidFill>
              </a:rPr>
              <a:t>Detailed process and data model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1051560"/>
            <a:ext cx="5486400" cy="5394960"/>
          </a:xfrm>
          <a:prstGeom prst="roundRect">
            <a:avLst>
              <a:gd name="adj" fmla="val 1356"/>
            </a:avLst>
          </a:prstGeom>
          <a:solidFill>
            <a:srgbClr val="F8FBF7"/>
          </a:solidFill>
          <a:ln w="12700">
            <a:solidFill>
              <a:srgbClr val="8F68B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170432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F68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 Flow Diagram - Level 1</a:t>
            </a:r>
            <a:endParaRPr lang="en-US" sz="1600" dirty="0"/>
          </a:p>
        </p:txBody>
      </p:sp>
      <p:pic>
        <p:nvPicPr>
          <p:cNvPr id="9" name="Image 0" descr="C:\Users\Administrator\Desktop\kenya_road_safety_project\report\extracted_doc_images\imag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463040"/>
            <a:ext cx="4983480" cy="46634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384280" y="6400800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66B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FF5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8F68BF"/>
          </a:solidFill>
          <a:ln w="12700">
            <a:solidFill>
              <a:srgbClr val="8F68B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09728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6. Methodology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229600" y="146304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EAF2EA"/>
                </a:solidFill>
              </a:rPr>
              <a:t>Seven-phase pipeline from the report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1508760" cy="822960"/>
          </a:xfrm>
          <a:prstGeom prst="roundRect">
            <a:avLst>
              <a:gd name="adj" fmla="val 6667"/>
            </a:avLst>
          </a:prstGeom>
          <a:solidFill>
            <a:srgbClr val="F8FBF7"/>
          </a:solidFill>
          <a:ln w="12700">
            <a:solidFill>
              <a:srgbClr val="2F6F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5528" y="1801368"/>
            <a:ext cx="128930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F6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Phase 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8952" y="2075688"/>
            <a:ext cx="136245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213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Setup &amp; Planning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194560" y="1947672"/>
            <a:ext cx="164592" cy="256032"/>
          </a:xfrm>
          <a:prstGeom prst="chevron">
            <a:avLst/>
          </a:prstGeom>
          <a:solidFill>
            <a:srgbClr val="566B5B"/>
          </a:solidFill>
          <a:ln w="12700">
            <a:solidFill>
              <a:srgbClr val="566B5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59152" y="1691640"/>
            <a:ext cx="1508760" cy="822960"/>
          </a:xfrm>
          <a:prstGeom prst="roundRect">
            <a:avLst>
              <a:gd name="adj" fmla="val 6667"/>
            </a:avLst>
          </a:prstGeom>
          <a:solidFill>
            <a:srgbClr val="F8FBF7"/>
          </a:solidFill>
          <a:ln w="12700">
            <a:solidFill>
              <a:srgbClr val="2E9B9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68880" y="1801368"/>
            <a:ext cx="128930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E9B9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Phase 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432304" y="2075688"/>
            <a:ext cx="136245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213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Loading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867912" y="1947672"/>
            <a:ext cx="164592" cy="256032"/>
          </a:xfrm>
          <a:prstGeom prst="chevron">
            <a:avLst/>
          </a:prstGeom>
          <a:solidFill>
            <a:srgbClr val="566B5B"/>
          </a:solidFill>
          <a:ln w="12700">
            <a:solidFill>
              <a:srgbClr val="566B5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32504" y="1691640"/>
            <a:ext cx="1508760" cy="822960"/>
          </a:xfrm>
          <a:prstGeom prst="roundRect">
            <a:avLst>
              <a:gd name="adj" fmla="val 6667"/>
            </a:avLst>
          </a:prstGeom>
          <a:solidFill>
            <a:srgbClr val="F8FBF7"/>
          </a:solidFill>
          <a:ln w="12700">
            <a:solidFill>
              <a:srgbClr val="1C6E4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42232" y="1801368"/>
            <a:ext cx="128930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6E4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Phase 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105656" y="2075688"/>
            <a:ext cx="136245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213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Cleaning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541264" y="1947672"/>
            <a:ext cx="164592" cy="256032"/>
          </a:xfrm>
          <a:prstGeom prst="chevron">
            <a:avLst/>
          </a:prstGeom>
          <a:solidFill>
            <a:srgbClr val="566B5B"/>
          </a:solidFill>
          <a:ln w="12700">
            <a:solidFill>
              <a:srgbClr val="566B5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705856" y="1691640"/>
            <a:ext cx="1508760" cy="822960"/>
          </a:xfrm>
          <a:prstGeom prst="roundRect">
            <a:avLst>
              <a:gd name="adj" fmla="val 6667"/>
            </a:avLst>
          </a:prstGeom>
          <a:solidFill>
            <a:srgbClr val="F8FBF7"/>
          </a:solidFill>
          <a:ln w="12700">
            <a:solidFill>
              <a:srgbClr val="B87F1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815584" y="1801368"/>
            <a:ext cx="128930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B87F1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Phase 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779008" y="2075688"/>
            <a:ext cx="136245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213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EDA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214616" y="1947672"/>
            <a:ext cx="164592" cy="256032"/>
          </a:xfrm>
          <a:prstGeom prst="chevron">
            <a:avLst/>
          </a:prstGeom>
          <a:solidFill>
            <a:srgbClr val="566B5B"/>
          </a:solidFill>
          <a:ln w="12700">
            <a:solidFill>
              <a:srgbClr val="566B5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79208" y="1691640"/>
            <a:ext cx="1508760" cy="822960"/>
          </a:xfrm>
          <a:prstGeom prst="roundRect">
            <a:avLst>
              <a:gd name="adj" fmla="val 6667"/>
            </a:avLst>
          </a:prstGeom>
          <a:solidFill>
            <a:srgbClr val="F8FBF7"/>
          </a:solidFill>
          <a:ln w="12700">
            <a:solidFill>
              <a:srgbClr val="B14A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88936" y="1801368"/>
            <a:ext cx="128930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B14A4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Phase 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452360" y="2075688"/>
            <a:ext cx="136245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213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Learning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887968" y="1947672"/>
            <a:ext cx="164592" cy="256032"/>
          </a:xfrm>
          <a:prstGeom prst="chevron">
            <a:avLst/>
          </a:prstGeom>
          <a:solidFill>
            <a:srgbClr val="566B5B"/>
          </a:solidFill>
          <a:ln w="12700">
            <a:solidFill>
              <a:srgbClr val="566B5B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052560" y="1691640"/>
            <a:ext cx="1508760" cy="822960"/>
          </a:xfrm>
          <a:prstGeom prst="roundRect">
            <a:avLst>
              <a:gd name="adj" fmla="val 6667"/>
            </a:avLst>
          </a:prstGeom>
          <a:solidFill>
            <a:srgbClr val="F8FBF7"/>
          </a:solidFill>
          <a:ln w="12700">
            <a:solidFill>
              <a:srgbClr val="8F68B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62288" y="1801368"/>
            <a:ext cx="128930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F68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Phase 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125712" y="2075688"/>
            <a:ext cx="136245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213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Dashboard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0561320" y="1947672"/>
            <a:ext cx="164592" cy="256032"/>
          </a:xfrm>
          <a:prstGeom prst="chevron">
            <a:avLst/>
          </a:prstGeom>
          <a:solidFill>
            <a:srgbClr val="566B5B"/>
          </a:solidFill>
          <a:ln w="12700">
            <a:solidFill>
              <a:srgbClr val="566B5B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725912" y="1691640"/>
            <a:ext cx="1435608" cy="822960"/>
          </a:xfrm>
          <a:prstGeom prst="roundRect">
            <a:avLst>
              <a:gd name="adj" fmla="val 6667"/>
            </a:avLst>
          </a:prstGeom>
          <a:solidFill>
            <a:srgbClr val="F8FBF7"/>
          </a:solidFill>
          <a:ln w="12700">
            <a:solidFill>
              <a:srgbClr val="7F5A3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835640" y="1801368"/>
            <a:ext cx="128930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7F5A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Phase 7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0799064" y="2075688"/>
            <a:ext cx="1362456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213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Reporting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40080" y="3017520"/>
            <a:ext cx="10972800" cy="2697480"/>
          </a:xfrm>
          <a:prstGeom prst="roundRect">
            <a:avLst>
              <a:gd name="adj" fmla="val 2712"/>
            </a:avLst>
          </a:prstGeom>
          <a:solidFill>
            <a:srgbClr val="F8FBF7"/>
          </a:solidFill>
          <a:ln w="12700">
            <a:solidFill>
              <a:srgbClr val="8F68B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3337560"/>
            <a:ext cx="10332720" cy="1965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13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report describes a seven-phase pipeline methodology mapped to dedicated notebooks and validated deliverables.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13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is iterative and data-centric: EDA findings feed back into cleaning and modelling choices are based on empirical validation.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13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recreated methodology diagram is based directly on the documented process in the report.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1384280" y="6400800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66B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FF5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2F6FC4"/>
          </a:solidFill>
          <a:ln w="12700">
            <a:solidFill>
              <a:srgbClr val="2F6FC4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09728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7. Key EDA Findings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229600" y="146304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EAF2EA"/>
                </a:solidFill>
              </a:rPr>
              <a:t>Where, when, causes, and victims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11480" y="868680"/>
            <a:ext cx="3840480" cy="5486400"/>
          </a:xfrm>
          <a:prstGeom prst="roundRect">
            <a:avLst>
              <a:gd name="adj" fmla="val 1905"/>
            </a:avLst>
          </a:prstGeom>
          <a:solidFill>
            <a:srgbClr val="F8FBF7"/>
          </a:solidFill>
          <a:ln w="12700">
            <a:solidFill>
              <a:srgbClr val="2F6F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143000"/>
            <a:ext cx="3291840" cy="4892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13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Nairobi had the most accidents: 183 records (16.4% of all accidents).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13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top 5 counties contributed 41.8% of all accidents.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13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Evening hours were the most dangerous period.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13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Careless driving and speeding were the leading identifiable causes, while pedestrians were the largest victim group.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26280" y="868680"/>
            <a:ext cx="3383280" cy="5486400"/>
          </a:xfrm>
          <a:prstGeom prst="roundRect">
            <a:avLst>
              <a:gd name="adj" fmla="val 2162"/>
            </a:avLst>
          </a:prstGeom>
          <a:solidFill>
            <a:srgbClr val="F8FBF7"/>
          </a:solidFill>
          <a:ln w="12700">
            <a:solidFill>
              <a:srgbClr val="2F6FC4"/>
            </a:solidFill>
            <a:prstDash val="solid"/>
          </a:ln>
        </p:spPr>
      </p:sp>
      <p:pic>
        <p:nvPicPr>
          <p:cNvPr id="9" name="Image 0" descr="C:\Users\Administrator\Desktop\kenya_road_safety_project\visuals\chart1_accidents_by_coun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097280"/>
            <a:ext cx="3108960" cy="4983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384280" y="6400800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66B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6">
            <a:extLst>
              <a:ext uri="{FF2B5EF4-FFF2-40B4-BE49-F238E27FC236}">
                <a16:creationId xmlns:a16="http://schemas.microsoft.com/office/drawing/2014/main" id="{7BDCA111-5553-CDAE-F12C-A02E305E7667}"/>
              </a:ext>
            </a:extLst>
          </p:cNvPr>
          <p:cNvSpPr/>
          <p:nvPr/>
        </p:nvSpPr>
        <p:spPr>
          <a:xfrm>
            <a:off x="3255819" y="207818"/>
            <a:ext cx="6664036" cy="6303817"/>
          </a:xfrm>
          <a:prstGeom prst="roundRect">
            <a:avLst>
              <a:gd name="adj" fmla="val 2162"/>
            </a:avLst>
          </a:prstGeom>
          <a:solidFill>
            <a:srgbClr val="F8FBF7"/>
          </a:solidFill>
          <a:ln w="12700">
            <a:solidFill>
              <a:srgbClr val="2F6FC4"/>
            </a:solidFill>
            <a:prstDash val="solid"/>
          </a:ln>
        </p:spPr>
      </p:sp>
      <p:pic>
        <p:nvPicPr>
          <p:cNvPr id="10" name="Image 1" descr="C:\Users\Administrator\Desktop\kenya_road_safety_project\visuals\chart3_victim_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1345" y="346365"/>
            <a:ext cx="6262255" cy="5611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5522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FF5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C6E42"/>
          </a:solidFill>
          <a:ln w="12700">
            <a:solidFill>
              <a:srgbClr val="1C6E42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09728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8. Machine Learning Results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229600" y="146304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EAF2EA"/>
                </a:solidFill>
              </a:rPr>
              <a:t>Predictive modelling performance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11480" y="868680"/>
            <a:ext cx="4572000" cy="5486400"/>
          </a:xfrm>
          <a:prstGeom prst="roundRect">
            <a:avLst>
              <a:gd name="adj" fmla="val 1600"/>
            </a:avLst>
          </a:prstGeom>
          <a:solidFill>
            <a:srgbClr val="F8FBF7"/>
          </a:solidFill>
          <a:ln w="12700">
            <a:solidFill>
              <a:srgbClr val="1C6E4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43000"/>
            <a:ext cx="3840480" cy="4892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13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Five models were developed: Linear Regression, Logistic Regression, Decision Tree, Random Forest, and K-Means Clustering.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13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Forest achieved the best AUC-ROC score: 0.749.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13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Logistic Regression achieved the highest recall: 0.719 for early warning use.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13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K-Means grouped counties into risk tiers for targeted interventions.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257800" y="868680"/>
            <a:ext cx="6492240" cy="5486400"/>
          </a:xfrm>
          <a:prstGeom prst="roundRect">
            <a:avLst>
              <a:gd name="adj" fmla="val 1333"/>
            </a:avLst>
          </a:prstGeom>
          <a:solidFill>
            <a:srgbClr val="F8FBF7"/>
          </a:solidFill>
          <a:ln w="12700">
            <a:solidFill>
              <a:srgbClr val="1C6E42"/>
            </a:solidFill>
            <a:prstDash val="solid"/>
          </a:ln>
        </p:spPr>
      </p:sp>
      <p:pic>
        <p:nvPicPr>
          <p:cNvPr id="8" name="Image 0" descr="C:\Users\Administrator\Desktop\kenya_road_safety_project\visuals\comparison_metrics_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097280"/>
            <a:ext cx="5989320" cy="48920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384280" y="6400800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66B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FF5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C6E42"/>
          </a:solidFill>
          <a:ln w="12700">
            <a:solidFill>
              <a:srgbClr val="1C6E42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09728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9. How the Models Were Used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229600" y="146304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EAF2EA"/>
                </a:solidFill>
              </a:rPr>
              <a:t>Simple explanation for presentation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1005840"/>
            <a:ext cx="3154680" cy="2103120"/>
          </a:xfrm>
          <a:prstGeom prst="roundRect">
            <a:avLst>
              <a:gd name="adj" fmla="val 3478"/>
            </a:avLst>
          </a:prstGeom>
          <a:solidFill>
            <a:srgbClr val="F8FBF7"/>
          </a:solidFill>
          <a:ln w="12700">
            <a:solidFill>
              <a:srgbClr val="1C6E4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143000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62500" lnSpcReduction="20000"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2F6F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Linear Regression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1508760"/>
            <a:ext cx="283464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213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Used to predict the number of victims in an accident as a regression task.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148840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566B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Finding: it performed poorly because most accidents had only one victim, so there was very little variation to learn.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069080" y="1005840"/>
            <a:ext cx="3154680" cy="2103120"/>
          </a:xfrm>
          <a:prstGeom prst="roundRect">
            <a:avLst>
              <a:gd name="adj" fmla="val 3478"/>
            </a:avLst>
          </a:prstGeom>
          <a:solidFill>
            <a:srgbClr val="F8FBF7"/>
          </a:solidFill>
          <a:ln w="12700">
            <a:solidFill>
              <a:srgbClr val="1C6E4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0" y="1143000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62500" lnSpcReduction="20000"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B87F1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Logistic Regression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206240" y="1508760"/>
            <a:ext cx="283464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213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Used as a baseline classification model to predict whether an accident would be fatal or non-fatal.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06240" y="2148840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566B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Finding: it produced the highest recall (0.719), meaning it identified the largest share of fatal accidents.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635240" y="1005840"/>
            <a:ext cx="3154680" cy="2103120"/>
          </a:xfrm>
          <a:prstGeom prst="roundRect">
            <a:avLst>
              <a:gd name="adj" fmla="val 3478"/>
            </a:avLst>
          </a:prstGeom>
          <a:solidFill>
            <a:srgbClr val="F8FBF7"/>
          </a:solidFill>
          <a:ln w="12700">
            <a:solidFill>
              <a:srgbClr val="1C6E4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143000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62500" lnSpcReduction="20000"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B14A4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Decision Tree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772400" y="1508760"/>
            <a:ext cx="283464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213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Used to classify fatality outcomes with a model that is easy to interpret and visualize.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0" y="2148840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566B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Finding: it captured useful rules from the data, but it was less stable and less accurate than the stronger ensemble model.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286000" y="3657600"/>
            <a:ext cx="3154680" cy="2103120"/>
          </a:xfrm>
          <a:prstGeom prst="roundRect">
            <a:avLst>
              <a:gd name="adj" fmla="val 3478"/>
            </a:avLst>
          </a:prstGeom>
          <a:solidFill>
            <a:srgbClr val="F8FBF7"/>
          </a:solidFill>
          <a:ln w="12700">
            <a:solidFill>
              <a:srgbClr val="1C6E4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423160" y="3794760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62500" lnSpcReduction="20000"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8F68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these 3 matter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2423160" y="4160520"/>
            <a:ext cx="283464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213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They provided baseline regression, baseline classification, and interpretable rule-based classification.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423160" y="4800600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566B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Together they helped compare simple models before moving to the best-performing advanced models.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384280" y="6400800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66B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FF5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2E9B92"/>
          </a:solidFill>
          <a:ln w="12700">
            <a:solidFill>
              <a:srgbClr val="2E9B92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09728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10. Advanced Models and Findings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229600" y="146304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EAF2EA"/>
                </a:solidFill>
              </a:rPr>
              <a:t>Best model and clustering insight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1005840"/>
            <a:ext cx="3154680" cy="2103120"/>
          </a:xfrm>
          <a:prstGeom prst="roundRect">
            <a:avLst>
              <a:gd name="adj" fmla="val 3478"/>
            </a:avLst>
          </a:prstGeom>
          <a:solidFill>
            <a:srgbClr val="F8FBF7"/>
          </a:solidFill>
          <a:ln w="12700">
            <a:solidFill>
              <a:srgbClr val="2E9B9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143000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62500" lnSpcReduction="20000"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C6E4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Random Forest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1508760"/>
            <a:ext cx="283464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213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Used as the main ensemble classifier for predicting accident fatality from multiple features.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148840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566B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Finding: it achieved the best AUC-ROC score of 0.749, making it the strongest overall model in the project.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069080" y="1005840"/>
            <a:ext cx="3154680" cy="2103120"/>
          </a:xfrm>
          <a:prstGeom prst="roundRect">
            <a:avLst>
              <a:gd name="adj" fmla="val 3478"/>
            </a:avLst>
          </a:prstGeom>
          <a:solidFill>
            <a:srgbClr val="F8FBF7"/>
          </a:solidFill>
          <a:ln w="12700">
            <a:solidFill>
              <a:srgbClr val="2E9B9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0" y="1143000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62500" lnSpcReduction="20000"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2E9B9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K-Means Clustering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206240" y="1508760"/>
            <a:ext cx="283464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213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Used as an unsupervised model to group counties into similar risk levels based on accident patterns.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06240" y="2148840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566B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Finding: it classified 42 counties into 3 tiers and identified 7 counties as High Risk.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635240" y="1005840"/>
            <a:ext cx="3154680" cy="2103120"/>
          </a:xfrm>
          <a:prstGeom prst="roundRect">
            <a:avLst>
              <a:gd name="adj" fmla="val 3478"/>
            </a:avLst>
          </a:prstGeom>
          <a:solidFill>
            <a:srgbClr val="F8FBF7"/>
          </a:solidFill>
          <a:ln w="12700">
            <a:solidFill>
              <a:srgbClr val="2E9B9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143000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62500" lnSpcReduction="20000"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7F5A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Feature insight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772400" y="1508760"/>
            <a:ext cx="283464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213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Forest also helped show which variables contributed most to fatality prediction.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0" y="2148840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566B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Finding: cause code and hour of day were among the most predictive features, showing that why and when an accident happens matters a lot.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286000" y="3657600"/>
            <a:ext cx="3154680" cy="2103120"/>
          </a:xfrm>
          <a:prstGeom prst="roundRect">
            <a:avLst>
              <a:gd name="adj" fmla="val 3478"/>
            </a:avLst>
          </a:prstGeom>
          <a:solidFill>
            <a:srgbClr val="F8FBF7"/>
          </a:solidFill>
          <a:ln w="12700">
            <a:solidFill>
              <a:srgbClr val="2E9B9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423160" y="3794760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62500" lnSpcReduction="20000"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8F68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Presentation takeaway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2423160" y="4160520"/>
            <a:ext cx="283464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213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Logistic Regression when recall is the priority, and Random Forest when overall classification strength is the priority.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423160" y="4800600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566B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K-Means is useful for planning because it helps authorities know where to focus limited resources.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384280" y="6400800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66B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FF5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B87F19"/>
          </a:solidFill>
          <a:ln w="12700">
            <a:solidFill>
              <a:srgbClr val="B87F19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09728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11. Dashboard and Deployment Outputs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229600" y="146304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EAF2EA"/>
                </a:solidFill>
              </a:rPr>
              <a:t>Screens from the documented deliverables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1051560"/>
            <a:ext cx="5486400" cy="5394960"/>
          </a:xfrm>
          <a:prstGeom prst="roundRect">
            <a:avLst>
              <a:gd name="adj" fmla="val 1356"/>
            </a:avLst>
          </a:prstGeom>
          <a:solidFill>
            <a:srgbClr val="F8FBF7"/>
          </a:solidFill>
          <a:ln w="12700">
            <a:solidFill>
              <a:srgbClr val="B87F1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0" y="1051560"/>
            <a:ext cx="5486400" cy="5394960"/>
          </a:xfrm>
          <a:prstGeom prst="roundRect">
            <a:avLst>
              <a:gd name="adj" fmla="val 1356"/>
            </a:avLst>
          </a:prstGeom>
          <a:solidFill>
            <a:srgbClr val="F8FBF7"/>
          </a:solidFill>
          <a:ln w="12700">
            <a:solidFill>
              <a:srgbClr val="B87F1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170432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87F1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Dashboard Page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46520" y="1170432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87F1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ML Insights Page</a:t>
            </a:r>
            <a:endParaRPr lang="en-US" sz="1600" dirty="0"/>
          </a:p>
        </p:txBody>
      </p:sp>
      <p:pic>
        <p:nvPicPr>
          <p:cNvPr id="9" name="Image 0" descr="C:\Users\Administrator\Desktop\kenya_road_safety_project\report\extracted_doc_images\imag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463040"/>
            <a:ext cx="4983480" cy="4663440"/>
          </a:xfrm>
          <a:prstGeom prst="rect">
            <a:avLst/>
          </a:prstGeom>
        </p:spPr>
      </p:pic>
      <p:pic>
        <p:nvPicPr>
          <p:cNvPr id="10" name="Image 1" descr="C:\Users\Administrator\Desktop\kenya_road_safety_project\report\extracted_doc_images\image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1463040"/>
            <a:ext cx="4983480" cy="46634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384280" y="6400800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66B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FF5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2E9B92"/>
          </a:solidFill>
          <a:ln w="12700">
            <a:solidFill>
              <a:srgbClr val="2E9B92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09728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12. High Risk Analysis and County Map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229600" y="146304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EAF2EA"/>
                </a:solidFill>
              </a:rPr>
              <a:t>Operational decision-support views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1051560"/>
            <a:ext cx="5486400" cy="5394960"/>
          </a:xfrm>
          <a:prstGeom prst="roundRect">
            <a:avLst>
              <a:gd name="adj" fmla="val 1356"/>
            </a:avLst>
          </a:prstGeom>
          <a:solidFill>
            <a:srgbClr val="F8FBF7"/>
          </a:solidFill>
          <a:ln w="12700">
            <a:solidFill>
              <a:srgbClr val="2E9B9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0" y="1051560"/>
            <a:ext cx="5486400" cy="5394960"/>
          </a:xfrm>
          <a:prstGeom prst="roundRect">
            <a:avLst>
              <a:gd name="adj" fmla="val 1356"/>
            </a:avLst>
          </a:prstGeom>
          <a:solidFill>
            <a:srgbClr val="F8FBF7"/>
          </a:solidFill>
          <a:ln w="12700">
            <a:solidFill>
              <a:srgbClr val="2E9B9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170432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9B9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High Risk Analysis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46520" y="1170432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9B9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County Risk Map</a:t>
            </a:r>
            <a:endParaRPr lang="en-US" sz="1600" dirty="0"/>
          </a:p>
        </p:txBody>
      </p:sp>
      <p:pic>
        <p:nvPicPr>
          <p:cNvPr id="9" name="Image 0" descr="C:\Users\Administrator\Desktop\kenya_road_safety_project\report\extracted_doc_images\imag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463040"/>
            <a:ext cx="4983480" cy="4663440"/>
          </a:xfrm>
          <a:prstGeom prst="rect">
            <a:avLst/>
          </a:prstGeom>
        </p:spPr>
      </p:pic>
      <p:pic>
        <p:nvPicPr>
          <p:cNvPr id="10" name="Image 1" descr="C:\Users\Administrator\Desktop\kenya_road_safety_project\report\extracted_doc_images\image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1463040"/>
            <a:ext cx="4983480" cy="46634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384280" y="6400800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66B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AE8D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7F5A32"/>
          </a:solidFill>
          <a:ln w="12700">
            <a:solidFill>
              <a:srgbClr val="7F5A32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09728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13. Recommendations and Conclusion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229600" y="146304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EAF2EA"/>
                </a:solidFill>
              </a:rPr>
              <a:t>Evidence-based actions and final message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94360" y="914400"/>
            <a:ext cx="10972800" cy="5440680"/>
          </a:xfrm>
          <a:prstGeom prst="roundRect">
            <a:avLst>
              <a:gd name="adj" fmla="val 1345"/>
            </a:avLst>
          </a:prstGeom>
          <a:solidFill>
            <a:srgbClr val="F8FBF7"/>
          </a:solidFill>
          <a:ln w="12700">
            <a:solidFill>
              <a:srgbClr val="7F5A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17043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7F5A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68680" y="1508760"/>
            <a:ext cx="4937760" cy="4389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13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Deploy targeted traffic enforcement on major corridors during evening and night hours.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13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Prioritise careless driving and speeding enforcement because they are the largest actionable cause categories.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13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Improve pedestrian safety infrastructure on dangerous urban roads through crossings, walkways, and footbridges.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13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 models and dashboard to guide county-level resource allocation, especially in the seven High Risk counties.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309360" y="117043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C6E4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Conclusion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309360" y="1508760"/>
            <a:ext cx="4663440" cy="35661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213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project transformed raw NTSA records into a complete analytics, prediction, and visualization system.
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213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delivered a cleaned database, EDA outputs, five ML models, county risk clustering, and a Power BI dashboard.
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213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 larger multi-year data and richer features such as weather, speed, and GPS, the system can become even more powerful for national deployment.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1384280" y="6400800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66B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1194</Words>
  <Application>Microsoft Office PowerPoint</Application>
  <PresentationFormat>Widescreen</PresentationFormat>
  <Paragraphs>144</Paragraphs>
  <Slides>15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Kenya Road Accident Analytics &amp; Risk Prediction System</dc:title>
  <dc:subject>Kenya Road Accident Analytics &amp; Risk Prediction System</dc:subject>
  <dc:creator>OpenAI Codex</dc:creator>
  <cp:lastModifiedBy>Agie Junior</cp:lastModifiedBy>
  <cp:revision>6</cp:revision>
  <dcterms:created xsi:type="dcterms:W3CDTF">2026-04-28T11:20:40Z</dcterms:created>
  <dcterms:modified xsi:type="dcterms:W3CDTF">2026-04-28T12:53:56Z</dcterms:modified>
</cp:coreProperties>
</file>